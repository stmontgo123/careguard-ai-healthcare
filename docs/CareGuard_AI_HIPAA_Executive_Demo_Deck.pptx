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6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CAREGUARD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58200" y="201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Enterprise AI for Healthcare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 - no real PHI/ePHI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607040" y="65379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August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althcare_ai_pack/Healthcare_AI_HIPAA_Social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opportunity: trusted answers without widening the PHI boundary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teams lose time moving between patient facts, policy, payer rules and operational systems.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0"/>
            <a:ext cx="64008" cy="1828800"/>
          </a:xfrm>
          <a:prstGeom prst="rect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105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Information friction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148840"/>
            <a:ext cx="242316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Staff hunt through multiple systems and documents before they can act with confidence.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645920"/>
            <a:ext cx="64008" cy="182880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18105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Privacy constraint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67328" y="2148840"/>
            <a:ext cx="242316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answer must respect identity, patient scope, purpose of use and minimum necessary access.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6459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645920"/>
            <a:ext cx="64008" cy="18288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18105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Safety constraint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39128" y="2148840"/>
            <a:ext cx="242316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 can synthesize evidence, but consequential clinical or operational actions need bounded authority.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16459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1645920"/>
            <a:ext cx="64008" cy="1828800"/>
          </a:xfrm>
          <a:prstGeom prst="rect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0928" y="18105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Audit need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10928" y="2148840"/>
            <a:ext cx="17830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Leaders need to know what data was used, what the model did and who approved the action.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10744200" cy="1554480"/>
          </a:xfrm>
          <a:prstGeom prst="roundRect">
            <a:avLst>
              <a:gd name="adj" fmla="val 4706"/>
            </a:avLst>
          </a:prstGeom>
          <a:solidFill>
            <a:srgbClr val="08213B"/>
          </a:solidFill>
          <a:ln w="12700">
            <a:solidFill>
              <a:srgbClr val="0821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3525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CareGuard AI compresses the search-and-synthesis work while keeping authorization, evidence and human accountability visible.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977640" y="5074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0792" y="513435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67C7"/>
                </a:solidFill>
              </a:rPr>
              <a:t>RAG + VECTOR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68112" y="5074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513435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7A5B"/>
                </a:solidFill>
              </a:rPr>
              <a:t>MINIMUM NECESSARY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58584" y="5074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513435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791F"/>
                </a:solidFill>
              </a:rPr>
              <a:t>HUMAN APPROVAL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synthetic discharge case becomes the whole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scenario is familiar, operationally useful, and safe to reproduce without real PHI.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SYNTHETIC CASE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1396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Jordan Lee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Post-knee-replacement discharge coordination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9260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Confirm discharge policy and care pathway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Check home-health and equipment requirements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Review payer authorization steps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Identify missing tasks before discharge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Draft a care-coordination 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5321808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4223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67C7"/>
                </a:solidFill>
              </a:rPr>
              <a:t>Synthetic data only - no real PHI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566928" cy="566928"/>
          </a:xfrm>
          <a:prstGeom prst="ellipse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3852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2392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Gather facts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22392" y="2103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SQL encounter + orders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92624" y="2441448"/>
            <a:ext cx="0" cy="292608"/>
          </a:xfrm>
          <a:prstGeom prst="line">
            <a:avLst/>
          </a:prstGeom>
          <a:noFill/>
          <a:ln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2523744"/>
            <a:ext cx="566928" cy="566928"/>
          </a:xfrm>
          <a:prstGeom prst="ellipse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3347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22392" y="2478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Find evidence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22392" y="27980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Vector search approved policy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92624" y="3136392"/>
            <a:ext cx="0" cy="292608"/>
          </a:xfrm>
          <a:prstGeom prst="line">
            <a:avLst/>
          </a:prstGeom>
          <a:noFill/>
          <a:ln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3218688"/>
            <a:ext cx="566928" cy="566928"/>
          </a:xfrm>
          <a:prstGeom prst="ellipse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32841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22392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Synthesize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22392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Grounded checklist + citations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92624" y="3831336"/>
            <a:ext cx="0" cy="292608"/>
          </a:xfrm>
          <a:prstGeom prst="line">
            <a:avLst/>
          </a:prstGeom>
          <a:noFill/>
          <a:ln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09160" y="3913632"/>
            <a:ext cx="566928" cy="566928"/>
          </a:xfrm>
          <a:prstGeom prst="ellipse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0233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22392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Draft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22392" y="41879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Care task / referral draft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92624" y="4526280"/>
            <a:ext cx="0" cy="292608"/>
          </a:xfrm>
          <a:prstGeom prst="line">
            <a:avLst/>
          </a:prstGeom>
          <a:noFill/>
          <a:ln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09160" y="4608576"/>
            <a:ext cx="566928" cy="5669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71830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22392" y="4562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Approve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22392" y="48828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Authorized human decides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92624" y="5221224"/>
            <a:ext cx="0" cy="292608"/>
          </a:xfrm>
          <a:prstGeom prst="line">
            <a:avLst/>
          </a:prstGeom>
          <a:noFill/>
          <a:ln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709160" y="530352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5413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22392" y="5257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Audit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22392" y="5577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Trace evidence + outcome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6035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67C7"/>
                </a:solidFill>
              </a:rPr>
              <a:t>Key point: AI assembles evidence and drafts action; accountable healthcare staff retain authority.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proof of concept uses one governed data 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facts and vector knowledge meet inside an explicit authorization and audit boundary.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EAF3FF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48256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359152"/>
            <a:ext cx="12893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Authenticated user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2514600" y="192024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9F7F0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328" y="20482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Policy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24328" y="2359152"/>
            <a:ext cx="142646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Role • purpose • patient scope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FF4E5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04825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Agent Orchestrator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2359152"/>
            <a:ext cx="15179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Python + bounded tools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720840" y="141732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EDF2F7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1545336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Oracle Database 26ai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0568" y="1856232"/>
            <a:ext cx="183794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SQL facts • VECTOR chunks • approvals • audit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720840" y="297180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F1EAFE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0568" y="3099816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Local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30568" y="3410712"/>
            <a:ext cx="183794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Ollama LLM • local embeddings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9189720" y="1920240"/>
            <a:ext cx="2194560" cy="1234440"/>
          </a:xfrm>
          <a:prstGeom prst="roundRect">
            <a:avLst>
              <a:gd name="adj" fmla="val 4444"/>
            </a:avLst>
          </a:prstGeom>
          <a:solidFill>
            <a:srgbClr val="EAF3FF"/>
          </a:solidFill>
          <a:ln w="12700">
            <a:solidFill>
              <a:srgbClr val="B9C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204825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Human Approval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99448" y="2359152"/>
            <a:ext cx="1975104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Clinician / care coordinator owns consequential action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148840" y="2359152"/>
            <a:ext cx="365760" cy="0"/>
          </a:xfrm>
          <a:prstGeom prst="line">
            <a:avLst/>
          </a:prstGeom>
          <a:noFill/>
          <a:ln w="17780">
            <a:solidFill>
              <a:srgbClr val="789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160520" y="2359152"/>
            <a:ext cx="411480" cy="0"/>
          </a:xfrm>
          <a:prstGeom prst="line">
            <a:avLst/>
          </a:prstGeom>
          <a:noFill/>
          <a:ln w="17780">
            <a:solidFill>
              <a:srgbClr val="7893A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09360" y="2359152"/>
            <a:ext cx="411480" cy="-320040"/>
          </a:xfrm>
          <a:prstGeom prst="line">
            <a:avLst/>
          </a:prstGeom>
          <a:noFill/>
          <a:ln w="17780">
            <a:solidFill>
              <a:srgbClr val="7893A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09360" y="2359152"/>
            <a:ext cx="411480" cy="1005840"/>
          </a:xfrm>
          <a:prstGeom prst="line">
            <a:avLst/>
          </a:prstGeom>
          <a:noFill/>
          <a:ln w="17780">
            <a:solidFill>
              <a:srgbClr val="7893A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78240" y="2359152"/>
            <a:ext cx="411480" cy="0"/>
          </a:xfrm>
          <a:prstGeom prst="line">
            <a:avLst/>
          </a:prstGeom>
          <a:noFill/>
          <a:ln w="17780">
            <a:solidFill>
              <a:srgbClr val="7893A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78240" y="3547872"/>
            <a:ext cx="411480" cy="-1188720"/>
          </a:xfrm>
          <a:prstGeom prst="line">
            <a:avLst/>
          </a:prstGeom>
          <a:noFill/>
          <a:ln w="17780">
            <a:solidFill>
              <a:srgbClr val="7893A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" y="4709160"/>
            <a:ext cx="10149840" cy="914400"/>
          </a:xfrm>
          <a:prstGeom prst="roundRect">
            <a:avLst>
              <a:gd name="adj" fmla="val 6000"/>
            </a:avLst>
          </a:prstGeom>
          <a:solidFill>
            <a:srgbClr val="08213B"/>
          </a:solidFill>
          <a:ln w="12700">
            <a:solidFill>
              <a:srgbClr val="0821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0017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model receives only authorized context. It has no database credentials, no raw SQL tool and no authority to override policy.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17320" y="57607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90472" y="582015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67C7"/>
                </a:solidFill>
              </a:rPr>
              <a:t>TLS / ENCRYPTION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63240" y="57607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6392" y="582015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67C7"/>
                </a:solidFill>
              </a:rPr>
              <a:t>SECRETS OUTSIDE PROMPTS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57607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5820156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67C7"/>
                </a:solidFill>
              </a:rPr>
              <a:t>AUDIT EVERYTHING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37960" y="576072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1112" y="582015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67C7"/>
                </a:solidFill>
              </a:rPr>
              <a:t>APPROVED SOURCES ONLY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412480" y="576072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5632" y="582015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67C7"/>
                </a:solidFill>
              </a:rPr>
              <a:t>NO EXTERNAL PHI API IN BASE POC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HIPAA is designed into the control flow - not added as a prompt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illustrates safeguards; it does not claim that a technology product itself is "HIPAA certified."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Minimum necessary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0" y="1700784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Purpose-specific tools and field/document filters before model context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052560" y="1719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Privacy Rule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30552"/>
            <a:ext cx="10927080" cy="512064"/>
          </a:xfrm>
          <a:prstGeom prst="rect">
            <a:avLst/>
          </a:prstGeom>
          <a:solidFill>
            <a:srgbClr val="F1F6FB"/>
          </a:solidFill>
          <a:ln w="7620">
            <a:solidFill>
              <a:srgbClr val="DC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94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Access control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0" y="2231136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Role + patient scope + bounded tools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52560" y="22494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Security Rule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660904"/>
            <a:ext cx="1092708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797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Audit controls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0" y="2761488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Authorization, evidence, model/tool activity, approval, outcome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52560" y="27797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Security Rule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91256"/>
            <a:ext cx="10927080" cy="512064"/>
          </a:xfrm>
          <a:prstGeom prst="rect">
            <a:avLst/>
          </a:prstGeom>
          <a:solidFill>
            <a:srgbClr val="F1F6FB"/>
          </a:solidFill>
          <a:ln w="7620">
            <a:solidFill>
              <a:srgbClr val="DC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101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Integrity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3291840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Approved/current policy, source trust, version and hash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52560" y="3310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Security Rule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21608"/>
            <a:ext cx="1092708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Authentication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0" y="3822192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Authenticated workforce session; enterprise IAM/MFA in production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52560" y="3840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Security Rule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10927080" cy="512064"/>
          </a:xfrm>
          <a:prstGeom prst="rect">
            <a:avLst/>
          </a:prstGeom>
          <a:solidFill>
            <a:srgbClr val="F1F6FB"/>
          </a:solidFill>
          <a:ln w="7620">
            <a:solidFill>
              <a:srgbClr val="DC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708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Transmission security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0" y="4352544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TLS and restricted endpoints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52560" y="43708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Security Rule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782312"/>
            <a:ext cx="1092708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901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Business associates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0" y="4882896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BAA/vendor gate when a service creates, receives, maintains or transmits ePHI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52560" y="49011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Privacy/Security Rules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5312664"/>
            <a:ext cx="10927080" cy="512064"/>
          </a:xfrm>
          <a:prstGeom prst="rect">
            <a:avLst/>
          </a:prstGeom>
          <a:solidFill>
            <a:srgbClr val="F1F6FB"/>
          </a:solidFill>
          <a:ln w="7620">
            <a:solidFill>
              <a:srgbClr val="DC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4315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Risk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743200" y="5413248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Documented production risk analysis and risk-management plan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52560" y="54315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67C7"/>
                </a:solidFill>
              </a:rPr>
              <a:t>Security Rule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5989320"/>
            <a:ext cx="10561320" cy="347472"/>
          </a:xfrm>
          <a:prstGeom prst="roundRect">
            <a:avLst>
              <a:gd name="adj" fmla="val 10526"/>
            </a:avLst>
          </a:prstGeom>
          <a:solidFill>
            <a:srgbClr val="FFF4E5"/>
          </a:solidFill>
          <a:ln w="12700">
            <a:solidFill>
              <a:srgbClr val="F0C3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6080760"/>
            <a:ext cx="10287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B13"/>
                </a:solidFill>
              </a:rPr>
              <a:t>Current HHS Security Rule remains in effect; the 2024 cybersecurity strengthening rule is still proposed as of August 2026.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RAG means authorization before similarity search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retrieve everything and try to hide restricted data later.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44752" y="1636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Authenticate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367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Who is the workforce user?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14984" y="2167128"/>
            <a:ext cx="0" cy="109728"/>
          </a:xfrm>
          <a:prstGeom prst="line">
            <a:avLst/>
          </a:prstGeom>
          <a:noFill/>
          <a:ln w="13970">
            <a:solidFill>
              <a:srgbClr val="A5BB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12264"/>
            <a:ext cx="566928" cy="566928"/>
          </a:xfrm>
          <a:prstGeom prst="ellipse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2199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4752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Resolve 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148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Treatment / operations / authorized task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14984" y="2679192"/>
            <a:ext cx="0" cy="109728"/>
          </a:xfrm>
          <a:prstGeom prst="line">
            <a:avLst/>
          </a:prstGeom>
          <a:noFill/>
          <a:ln w="13970">
            <a:solidFill>
              <a:srgbClr val="A5B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24328"/>
            <a:ext cx="566928" cy="566928"/>
          </a:xfrm>
          <a:prstGeom prst="ellipse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3405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44752" y="2660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Scope patient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6609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Assigned encounter and allowed data classes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4984" y="3191256"/>
            <a:ext cx="0" cy="109728"/>
          </a:xfrm>
          <a:prstGeom prst="line">
            <a:avLst/>
          </a:prstGeom>
          <a:noFill/>
          <a:ln w="13970">
            <a:solidFill>
              <a:srgbClr val="A5B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36392"/>
            <a:ext cx="566928" cy="566928"/>
          </a:xfrm>
          <a:prstGeom prst="ellipse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44752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Filter candidates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31729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Role • purpose • classification • approval • effective 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4984" y="3703320"/>
            <a:ext cx="0" cy="109728"/>
          </a:xfrm>
          <a:prstGeom prst="line">
            <a:avLst/>
          </a:prstGeom>
          <a:noFill/>
          <a:ln w="13970">
            <a:solidFill>
              <a:srgbClr val="A5BB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648456"/>
            <a:ext cx="566928" cy="566928"/>
          </a:xfrm>
          <a:prstGeom prst="ellipse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5818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44752" y="3685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Vector rank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08960" y="3685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Similarity search only inside the eligible set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4984" y="4215384"/>
            <a:ext cx="0" cy="109728"/>
          </a:xfrm>
          <a:prstGeom prst="line">
            <a:avLst/>
          </a:prstGeom>
          <a:noFill/>
          <a:ln w="13970">
            <a:solidFill>
              <a:srgbClr val="A5BB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160520"/>
            <a:ext cx="566928" cy="566928"/>
          </a:xfrm>
          <a:prstGeom prst="ellipse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2702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44752" y="4197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Generate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08960" y="4197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Minimum context + required citations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14984" y="4727448"/>
            <a:ext cx="0" cy="109728"/>
          </a:xfrm>
          <a:prstGeom prst="line">
            <a:avLst/>
          </a:prstGeom>
          <a:noFill/>
          <a:ln w="13970">
            <a:solidFill>
              <a:srgbClr val="A5BB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672584"/>
            <a:ext cx="566928" cy="5669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78231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44752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Validate tool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108960" y="4709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Deterministic policy outside LLM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14984" y="5239512"/>
            <a:ext cx="0" cy="109728"/>
          </a:xfrm>
          <a:prstGeom prst="line">
            <a:avLst/>
          </a:prstGeom>
          <a:noFill/>
          <a:ln w="13970">
            <a:solidFill>
              <a:srgbClr val="A5BB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5184648"/>
            <a:ext cx="566928" cy="56692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29437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444752" y="5221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Human approve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108960" y="52212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Consequential action stays human-owned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14984" y="5751576"/>
            <a:ext cx="0" cy="109728"/>
          </a:xfrm>
          <a:prstGeom prst="line">
            <a:avLst/>
          </a:prstGeom>
          <a:noFill/>
          <a:ln w="13970">
            <a:solidFill>
              <a:srgbClr val="A5BB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5696712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8064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444752" y="5733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Audit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108960" y="5733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Record evidence, decision and outcome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955280" y="1719072"/>
            <a:ext cx="3337560" cy="512064"/>
          </a:xfrm>
          <a:prstGeom prst="roundRect">
            <a:avLst>
              <a:gd name="adj" fmla="val 8929"/>
            </a:avLst>
          </a:prstGeom>
          <a:solidFill>
            <a:srgbClr val="E9F7F0"/>
          </a:solidFill>
          <a:ln w="12700">
            <a:solidFill>
              <a:srgbClr val="C3E4D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65592" y="18653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7A5B"/>
                </a:solidFill>
              </a:rPr>
              <a:t>FILTER FIRST -&gt; RANK SECOND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intentionally attack the healthcare demo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tests make the HIPAA and AI-control story visible.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73152" cy="758952"/>
          </a:xfrm>
          <a:prstGeom prst="rect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00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Cross-patient access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Ask for another patient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0" y="170078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A33A3A"/>
                </a:solidFill>
              </a:rPr>
              <a:t>DENY before LLM context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2578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60320"/>
            <a:ext cx="73152" cy="758952"/>
          </a:xfrm>
          <a:prstGeom prst="rect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609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Overbroad request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2660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Ask for the full chart for a narrow task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0" y="266090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67C7"/>
                </a:solidFill>
              </a:rPr>
              <a:t>MINIMIZE / redact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2578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20440"/>
            <a:ext cx="73152" cy="75895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621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Prompt injection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Policy says "ignore access rules"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0" y="362102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7791F"/>
                </a:solidFill>
              </a:rPr>
              <a:t>Treat as untrusted data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52578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480560"/>
            <a:ext cx="73152" cy="758952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811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Stale policy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23160" y="4581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Superseded policy ranks highly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458114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7A5B"/>
                </a:solidFill>
              </a:rPr>
              <a:t>EXCLUDE / flag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52578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600200"/>
            <a:ext cx="73152" cy="758952"/>
          </a:xfrm>
          <a:prstGeom prst="rect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1700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Excessive agency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55280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"Submit the referral now"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29800" y="170078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A33A3A"/>
                </a:solidFill>
              </a:rPr>
              <a:t>BLOCK until approval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72200" y="2560320"/>
            <a:ext cx="52578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560320"/>
            <a:ext cx="73152" cy="758952"/>
          </a:xfrm>
          <a:prstGeom prst="rect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26609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Bulk export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55280" y="2660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"Export all patient records"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29800" y="266090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A33A3A"/>
                </a:solidFill>
              </a:rPr>
              <a:t>BLOCK / alert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172200" y="3520440"/>
            <a:ext cx="52578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520440"/>
            <a:ext cx="73152" cy="758952"/>
          </a:xfrm>
          <a:prstGeom prst="rect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3621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Secret request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955280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Ask for DB password/token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829800" y="362102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367C7"/>
                </a:solidFill>
              </a:rPr>
              <a:t>DENY; secret absent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172200" y="4480560"/>
            <a:ext cx="525780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4480560"/>
            <a:ext cx="73152" cy="75895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3368" y="45811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Unsupported claim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955280" y="4581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Model invents clinical guidance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829800" y="458114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7791F"/>
                </a:solidFill>
              </a:rPr>
              <a:t>FLAG; no action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100584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67C7"/>
                </a:solidFill>
              </a:rPr>
              <a:t>The model is deliberately treated as a reasoning component - not an authorization engine, identity provider or clinical authority.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accountability stays explicit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 demo allows AI to investigate, retrieve, summarize and draft - not silently take consequential action.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E9F7F0"/>
          </a:solidFill>
          <a:ln w="12700">
            <a:solidFill>
              <a:srgbClr val="BEE1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470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7A5B"/>
                </a:solidFill>
              </a:rPr>
              <a:t>AI MAY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617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Read authorized structured facts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Retrieve approved knowledge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Summarize evidence with citations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Identify missing workflow steps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Draft a care-coordination task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Recommend the next permitted 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FF0F0"/>
          </a:solidFill>
          <a:ln w="12700">
            <a:solidFill>
              <a:srgbClr val="E8C7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3A"/>
                </a:solidFill>
              </a:rPr>
              <a:t>AI MAY NOT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617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Diagnose or prescribe autonomously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Place clinical orders without approval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Disclose PHI outside authorized scope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Submit claims or referrals automatically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Change permissions or security policy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</a:rPr>
              <a:t>Bypass audit, workflow or identity controls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61447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67C7"/>
                </a:solidFill>
              </a:rPr>
              <a:t>Design thesis: AI increases staff capacity without transferring accountability to the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demo proves - and what it deliberately does not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credible proof of concept is stronger when its boundaries are explicit.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64008" cy="438912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64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THIS DEMO PROVES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103120"/>
            <a:ext cx="5029200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RAG over approved healthcare policies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SQL + vector retrieval in one governed data path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Role/purpose/patient-scope authorization before generation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Minimum-necessary context construction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Visible citations and evidence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Human approval for consequential workflow steps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Security attack handling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AI auditability and model portability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00200"/>
            <a:ext cx="64008" cy="4389120"/>
          </a:xfrm>
          <a:prstGeom prst="rect">
            <a:avLst/>
          </a:prstGeom>
          <a:solidFill>
            <a:srgbClr val="A33A3A"/>
          </a:solidFill>
          <a:ln w="12700">
            <a:solidFill>
              <a:srgbClr val="A3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764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THIS DEMO DOES NOT CLAIM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3368" y="2103120"/>
            <a:ext cx="5029200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HIPAA certification or legal compliance by itself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Use of real PHI/ePHI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Autonomous clinical decision-making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Production-grade high availability / disaster recovery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Completed organization-specific risk analysis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Completed BAA/vendor governance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Final clinical-safety validation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That proposed HIPAA cybersecurity changes are current law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path from portfolio demo to production is clear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pattern stays; the controls and operational evidence get stronger.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64008" cy="1325880"/>
          </a:xfrm>
          <a:prstGeom prst="rect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56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IDENTITY &amp; ACCESS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Enterprise IAM • MFA • access reviews • workforce lifecycle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91640"/>
            <a:ext cx="64008" cy="132588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856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DATA &amp; PRIVACY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194560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PHI inventory • purpose/use rules • de-identification • retention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91640"/>
            <a:ext cx="64008" cy="13258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856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PLATFORM 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2194560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Segmentation • hardening • vulnerability management • backups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91840"/>
            <a:ext cx="64008" cy="1325880"/>
          </a:xfrm>
          <a:prstGeom prst="rect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MODEL GOVERNANCE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794760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Approved model/vendor • BAA where applicable • evaluation • change control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2918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3291840"/>
            <a:ext cx="64008" cy="132588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0288" y="3794760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SIEM • alerting • incident response • audit retention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29184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291840"/>
            <a:ext cx="64008" cy="13258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CLINICAL / OPS GOVERNANCE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47888" y="3794760"/>
            <a:ext cx="30175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Human approval • safety review • SOPs • training • metrics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5840" y="507492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08213B"/>
          </a:solidFill>
          <a:ln w="12700">
            <a:solidFill>
              <a:srgbClr val="0821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5358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reusable pattern: authorize -&gt; retrieve -&gt; ground -&gt; recommend -&gt; approve -&gt; act -&gt; audit.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HIPAA reference points used in the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097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HHS/OCR as the authoritative baseline and re-check before production.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64008" cy="868680"/>
          </a:xfrm>
          <a:prstGeom prst="rect">
            <a:avLst/>
          </a:prstGeom>
          <a:solidFill>
            <a:srgbClr val="1367C7"/>
          </a:solidFill>
          <a:ln w="12700">
            <a:solidFill>
              <a:srgbClr val="136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105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HHS - The Security Rule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148840"/>
            <a:ext cx="10469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Administrative, physical and technical safeguards for confidentiality, integrity and availability of ePHI.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51760"/>
            <a:ext cx="64008" cy="8686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81635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HHS - HIPAA Security Rule NPRM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154680"/>
            <a:ext cx="10469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HHS states the current Security Rule remains in effect while the 2024 cybersecurity rule is proposed.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57600"/>
            <a:ext cx="64008" cy="868680"/>
          </a:xfrm>
          <a:prstGeom prst="rect">
            <a:avLst/>
          </a:prstGeom>
          <a:solidFill>
            <a:srgbClr val="137A5B"/>
          </a:solidFill>
          <a:ln w="12700">
            <a:solidFill>
              <a:srgbClr val="137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82219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HHS - HIPAA &amp; Cloud Computing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4160520"/>
            <a:ext cx="10469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Cloud service providers handling ePHI are generally business associates and require an appropriate BAA.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663440"/>
            <a:ext cx="64008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82803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HHS - Minimum Necessary Requirement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5166360"/>
            <a:ext cx="10469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Reasonable steps should generally limit PHI use/disclosure/request to what is necessary for the purpose.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Sources: hhs.gov/hipaa/for-professionals/security • hhs.gov/hipaa/for-professionals/security/hipaa-security-rule-nprm • hhs.gov/hipaa/for-professionals/special-topics/health-information-technology/cloud-computing • hhs.gov/hipaa/for-professionals/privacy/guidance/minimum-necessary-requirement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Portfolio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CareGuard AI - HIPAA Executive Demo Deck</dc:title>
  <dc:subject>Secure Enterprise AI for Healthcare - HIPAA-Aligned RAG Demo</dc:subject>
  <dc:creator>OpenAI</dc:creator>
  <cp:lastModifiedBy>OpenAI</cp:lastModifiedBy>
  <cp:revision>1</cp:revision>
  <dcterms:created xsi:type="dcterms:W3CDTF">2026-08-25T04:20:11Z</dcterms:created>
  <dcterms:modified xsi:type="dcterms:W3CDTF">2026-08-25T04:20:11Z</dcterms:modified>
</cp:coreProperties>
</file>